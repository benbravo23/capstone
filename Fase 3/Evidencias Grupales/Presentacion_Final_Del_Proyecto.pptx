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71" r:id="rId4"/>
    <p:sldId id="259" r:id="rId5"/>
    <p:sldId id="272" r:id="rId6"/>
    <p:sldId id="262" r:id="rId7"/>
    <p:sldId id="265" r:id="rId8"/>
    <p:sldId id="268" r:id="rId9"/>
    <p:sldId id="270" r:id="rId10"/>
  </p:sldIdLst>
  <p:sldSz cx="12192000" cy="6858000"/>
  <p:notesSz cx="6858000" cy="9144000"/>
  <p:embeddedFontLst>
    <p:embeddedFont>
      <p:font typeface="Lato" panose="020F0502020204030203" pitchFamily="34" charset="0"/>
      <p:regular r:id="rId12"/>
      <p:bold r:id="rId13"/>
      <p:italic r:id="rId14"/>
      <p:boldItalic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C31A50-F97A-44F4-A4EB-3EB9F995318A}">
  <a:tblStyle styleId="{B1C31A50-F97A-44F4-A4EB-3EB9F995318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1E291096-1AF1-761A-1B32-37381D33B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>
            <a:extLst>
              <a:ext uri="{FF2B5EF4-FFF2-40B4-BE49-F238E27FC236}">
                <a16:creationId xmlns:a16="http://schemas.microsoft.com/office/drawing/2014/main" id="{6C9A368E-623C-7383-E688-598E920054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>
            <a:extLst>
              <a:ext uri="{FF2B5EF4-FFF2-40B4-BE49-F238E27FC236}">
                <a16:creationId xmlns:a16="http://schemas.microsoft.com/office/drawing/2014/main" id="{1E97F654-CB74-D7BE-B0FB-08DF6C9653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3469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15EAA95-5CBC-B15F-9A21-EF36D0105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>
            <a:extLst>
              <a:ext uri="{FF2B5EF4-FFF2-40B4-BE49-F238E27FC236}">
                <a16:creationId xmlns:a16="http://schemas.microsoft.com/office/drawing/2014/main" id="{4665572B-65EA-9BF1-ECB6-C4D96D4740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>
            <a:extLst>
              <a:ext uri="{FF2B5EF4-FFF2-40B4-BE49-F238E27FC236}">
                <a16:creationId xmlns:a16="http://schemas.microsoft.com/office/drawing/2014/main" id="{C29E85E3-FF26-7FD4-A3A1-91428B03EF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704602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jpe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90500" y="3071812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PRESENTACIÓN FINAL CAPSTONE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81000" y="4195762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Corporativa PepsiCo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90500" y="2533650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INTEGRANTES DEL PROYECTO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3221831" y="4495800"/>
            <a:ext cx="170021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Nicolás León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029926" y="4495800"/>
            <a:ext cx="218027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Benjamín Bravo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71912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20037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0500" y="16280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>
          <a:extLst>
            <a:ext uri="{FF2B5EF4-FFF2-40B4-BE49-F238E27FC236}">
              <a16:creationId xmlns:a16="http://schemas.microsoft.com/office/drawing/2014/main" id="{94A74C74-C9E5-D497-F196-33BFEAAE2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>
            <a:extLst>
              <a:ext uri="{FF2B5EF4-FFF2-40B4-BE49-F238E27FC236}">
                <a16:creationId xmlns:a16="http://schemas.microsoft.com/office/drawing/2014/main" id="{6C5ADFFD-638C-949E-13B4-C85CFFB1E4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1983124"/>
            <a:ext cx="9723120" cy="4417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>
            <a:extLst>
              <a:ext uri="{FF2B5EF4-FFF2-40B4-BE49-F238E27FC236}">
                <a16:creationId xmlns:a16="http://schemas.microsoft.com/office/drawing/2014/main" id="{F1C3FC7B-B016-530C-3705-E5C7107CBC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>
            <a:extLst>
              <a:ext uri="{FF2B5EF4-FFF2-40B4-BE49-F238E27FC236}">
                <a16:creationId xmlns:a16="http://schemas.microsoft.com/office/drawing/2014/main" id="{57B8A26C-BB24-8B3F-0F7D-D9E133582732}"/>
              </a:ext>
            </a:extLst>
          </p:cNvPr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10" name="Google Shape;110;p15">
            <a:extLst>
              <a:ext uri="{FF2B5EF4-FFF2-40B4-BE49-F238E27FC236}">
                <a16:creationId xmlns:a16="http://schemas.microsoft.com/office/drawing/2014/main" id="{1CDF3D31-9A27-6460-3BC8-1C07BDF35C09}"/>
              </a:ext>
            </a:extLst>
          </p:cNvPr>
          <p:cNvSpPr txBox="1"/>
          <p:nvPr/>
        </p:nvSpPr>
        <p:spPr>
          <a:xfrm>
            <a:off x="190500" y="1242524"/>
            <a:ext cx="118110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s-CL" sz="3000" b="1" dirty="0">
                <a:solidFill>
                  <a:srgbClr val="333333"/>
                </a:solidFill>
                <a:latin typeface="Poppins"/>
                <a:cs typeface="Poppins"/>
              </a:rPr>
              <a:t>Contexto de la Empresa – PepsiCo Chile</a:t>
            </a:r>
            <a:endParaRPr sz="3000" b="1" dirty="0">
              <a:solidFill>
                <a:srgbClr val="333333"/>
              </a:solidFill>
              <a:latin typeface="Poppins"/>
              <a:cs typeface="Poppins"/>
            </a:endParaRPr>
          </a:p>
        </p:txBody>
      </p:sp>
      <p:pic>
        <p:nvPicPr>
          <p:cNvPr id="127" name="Google Shape;127;p15">
            <a:extLst>
              <a:ext uri="{FF2B5EF4-FFF2-40B4-BE49-F238E27FC236}">
                <a16:creationId xmlns:a16="http://schemas.microsoft.com/office/drawing/2014/main" id="{9E6D51C3-540E-D07E-5D00-C79E31C1FA14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1BAA669-37E0-2DA5-2504-3ACA7530F643}"/>
              </a:ext>
            </a:extLst>
          </p:cNvPr>
          <p:cNvSpPr txBox="1"/>
          <p:nvPr/>
        </p:nvSpPr>
        <p:spPr>
          <a:xfrm>
            <a:off x="707898" y="1994213"/>
            <a:ext cx="9249918" cy="4475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PepsiCo Chile es una compañía líder en producción y distribución de alimentos y bebidas, operando con una gran flota de camiones a nivel nacional para abastecer supermercados, distribuidores y puntos de venta.</a:t>
            </a:r>
          </a:p>
          <a:p>
            <a:pPr>
              <a:lnSpc>
                <a:spcPct val="150000"/>
              </a:lnSpc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Actualmente, el proceso de ingreso de vehículos al taller ubicado en la Planta Santa Marta—ya sea por mantención o reparación— se realiza de manera manual, utilizando planillas, llamadas y mensajes por WhatsApp, lo que genera: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Falta de trazabilidad del estado de cada vehículo.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Mala coordinación entre choferes, supervisores y mecánicos.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Duplicación de información y pérdida de datos.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Dificultad para medir tiempos reales de mantención.</a:t>
            </a:r>
          </a:p>
          <a:p>
            <a:pPr>
              <a:lnSpc>
                <a:spcPct val="150000"/>
              </a:lnSpc>
            </a:pPr>
            <a:r>
              <a:rPr lang="es-MX" sz="16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Debido a esto, PepsiCo busca digitalizar y centralizar el proceso, permitiendo un control más eficiente de la flota, una mejor comunicación interna y una trazabilidad completa en tiempo real.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1159EB7-317F-2BE5-569B-E78A698A0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1261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917698"/>
            <a:ext cx="5635752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90500" y="2105025"/>
            <a:ext cx="118110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333333"/>
                </a:solidFill>
                <a:latin typeface="Poppins"/>
                <a:cs typeface="Poppins"/>
                <a:sym typeface="Poppins"/>
              </a:rPr>
              <a:t>Objetivos</a:t>
            </a:r>
            <a:r>
              <a:rPr lang="en-US" sz="3000" b="1" dirty="0">
                <a:solidFill>
                  <a:srgbClr val="333333"/>
                </a:solidFill>
                <a:latin typeface="Poppins"/>
                <a:cs typeface="Poppins"/>
                <a:sym typeface="Poppins"/>
              </a:rPr>
              <a:t> de la </a:t>
            </a:r>
            <a:r>
              <a:rPr lang="en-US" sz="3000" b="1" dirty="0" err="1">
                <a:solidFill>
                  <a:srgbClr val="333333"/>
                </a:solidFill>
                <a:latin typeface="Poppins"/>
                <a:cs typeface="Poppins"/>
                <a:sym typeface="Poppins"/>
              </a:rPr>
              <a:t>solución</a:t>
            </a:r>
            <a:endParaRPr dirty="0"/>
          </a:p>
        </p:txBody>
      </p:sp>
      <p:sp>
        <p:nvSpPr>
          <p:cNvPr id="137" name="Google Shape;137;p16"/>
          <p:cNvSpPr txBox="1"/>
          <p:nvPr/>
        </p:nvSpPr>
        <p:spPr>
          <a:xfrm>
            <a:off x="760883" y="3249061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</a:t>
            </a:r>
            <a:r>
              <a:rPr lang="en-US" sz="2100" b="1" i="0" u="none" strike="noStrike" cap="none" dirty="0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 General</a:t>
            </a:r>
            <a:endParaRPr dirty="0"/>
          </a:p>
        </p:txBody>
      </p:sp>
      <p:sp>
        <p:nvSpPr>
          <p:cNvPr id="138" name="Google Shape;138;p16"/>
          <p:cNvSpPr txBox="1"/>
          <p:nvPr/>
        </p:nvSpPr>
        <p:spPr>
          <a:xfrm>
            <a:off x="771524" y="3800094"/>
            <a:ext cx="4695825" cy="1558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Desarrollar una página web corporativa para PepsiCo que permita centralizar la información institucional, mejorar la comunicación interna y externa, y ofrecer una plataforma moderna, accesible y fácil de gestionar, que represente adecuadamente la identidad de la empresa.</a:t>
            </a:r>
            <a:endParaRPr sz="1350" dirty="0">
              <a:solidFill>
                <a:srgbClr val="475569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8" name="Google Shape;14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725" y="59437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1.735.800+ Solucion De Problemas Fotografías de stock, fotos ...">
            <a:extLst>
              <a:ext uri="{FF2B5EF4-FFF2-40B4-BE49-F238E27FC236}">
                <a16:creationId xmlns:a16="http://schemas.microsoft.com/office/drawing/2014/main" id="{7FDAEF5E-61CC-BEEE-510B-05DB4FB4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664" y="2917698"/>
            <a:ext cx="4454330" cy="296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7690A65C-ACBA-C8DF-B888-DDB63E031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>
          <a:extLst>
            <a:ext uri="{FF2B5EF4-FFF2-40B4-BE49-F238E27FC236}">
              <a16:creationId xmlns:a16="http://schemas.microsoft.com/office/drawing/2014/main" id="{45C8B9B2-3EC5-3FA5-99D0-13F0FD52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6" descr="image.png">
            <a:extLst>
              <a:ext uri="{FF2B5EF4-FFF2-40B4-BE49-F238E27FC236}">
                <a16:creationId xmlns:a16="http://schemas.microsoft.com/office/drawing/2014/main" id="{8F0CC11E-051E-825E-AB30-6D6692BBD8A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822" y="2649566"/>
            <a:ext cx="11303794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>
            <a:extLst>
              <a:ext uri="{FF2B5EF4-FFF2-40B4-BE49-F238E27FC236}">
                <a16:creationId xmlns:a16="http://schemas.microsoft.com/office/drawing/2014/main" id="{70D0A60B-D93A-47AA-E5C2-C9471C00012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>
            <a:extLst>
              <a:ext uri="{FF2B5EF4-FFF2-40B4-BE49-F238E27FC236}">
                <a16:creationId xmlns:a16="http://schemas.microsoft.com/office/drawing/2014/main" id="{0E2076E2-DA01-B66F-1A2B-5DD52740F143}"/>
              </a:ext>
            </a:extLst>
          </p:cNvPr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36" name="Google Shape;136;p16">
            <a:extLst>
              <a:ext uri="{FF2B5EF4-FFF2-40B4-BE49-F238E27FC236}">
                <a16:creationId xmlns:a16="http://schemas.microsoft.com/office/drawing/2014/main" id="{0FD0C0C4-E0B3-EEE9-D9DD-6824ADAE2811}"/>
              </a:ext>
            </a:extLst>
          </p:cNvPr>
          <p:cNvSpPr txBox="1"/>
          <p:nvPr/>
        </p:nvSpPr>
        <p:spPr>
          <a:xfrm>
            <a:off x="190500" y="2105025"/>
            <a:ext cx="118110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 err="1">
                <a:solidFill>
                  <a:srgbClr val="333333"/>
                </a:solidFill>
                <a:latin typeface="Poppins"/>
                <a:cs typeface="Poppins"/>
                <a:sym typeface="Poppins"/>
              </a:rPr>
              <a:t>Objetivos</a:t>
            </a:r>
            <a:r>
              <a:rPr lang="en-US" sz="3000" b="1" dirty="0">
                <a:solidFill>
                  <a:srgbClr val="333333"/>
                </a:solidFill>
                <a:latin typeface="Poppins"/>
                <a:cs typeface="Poppins"/>
                <a:sym typeface="Poppins"/>
              </a:rPr>
              <a:t> de la </a:t>
            </a:r>
            <a:r>
              <a:rPr lang="en-US" sz="3000" b="1" dirty="0" err="1">
                <a:solidFill>
                  <a:srgbClr val="333333"/>
                </a:solidFill>
                <a:latin typeface="Poppins"/>
                <a:cs typeface="Poppins"/>
                <a:sym typeface="Poppins"/>
              </a:rPr>
              <a:t>solución</a:t>
            </a:r>
            <a:endParaRPr dirty="0"/>
          </a:p>
        </p:txBody>
      </p:sp>
      <p:sp>
        <p:nvSpPr>
          <p:cNvPr id="139" name="Google Shape;139;p16">
            <a:extLst>
              <a:ext uri="{FF2B5EF4-FFF2-40B4-BE49-F238E27FC236}">
                <a16:creationId xmlns:a16="http://schemas.microsoft.com/office/drawing/2014/main" id="{B6813429-9F92-CEA8-8D04-E75414028F2A}"/>
              </a:ext>
            </a:extLst>
          </p:cNvPr>
          <p:cNvSpPr txBox="1"/>
          <p:nvPr/>
        </p:nvSpPr>
        <p:spPr>
          <a:xfrm>
            <a:off x="809625" y="2917698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Objetivos</a:t>
            </a:r>
            <a:r>
              <a:rPr lang="en-US" sz="2100" b="1" i="0" u="none" strike="noStrike" cap="none" dirty="0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100" b="1" i="0" u="none" strike="noStrike" cap="none" dirty="0" err="1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Específicos</a:t>
            </a:r>
            <a:endParaRPr dirty="0"/>
          </a:p>
        </p:txBody>
      </p:sp>
      <p:pic>
        <p:nvPicPr>
          <p:cNvPr id="148" name="Google Shape;148;p16">
            <a:extLst>
              <a:ext uri="{FF2B5EF4-FFF2-40B4-BE49-F238E27FC236}">
                <a16:creationId xmlns:a16="http://schemas.microsoft.com/office/drawing/2014/main" id="{9944C6C9-6772-40D4-48D9-381DFE80F98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725" y="59437"/>
            <a:ext cx="1873050" cy="15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D21B4893-C158-7482-8970-4F42F10DAE17}"/>
              </a:ext>
            </a:extLst>
          </p:cNvPr>
          <p:cNvSpPr txBox="1"/>
          <p:nvPr/>
        </p:nvSpPr>
        <p:spPr>
          <a:xfrm>
            <a:off x="301725" y="3418667"/>
            <a:ext cx="4739450" cy="886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Implementar un diseño moderno, responsive y alineado a la identidad visual de PepsiCo, asegurando una experiencia consistente en computadores, </a:t>
            </a:r>
            <a:r>
              <a:rPr lang="es-MX" sz="1200" dirty="0" err="1">
                <a:solidFill>
                  <a:srgbClr val="475569"/>
                </a:solidFill>
                <a:latin typeface="Lato"/>
                <a:ea typeface="Lato"/>
                <a:cs typeface="Lato"/>
              </a:rPr>
              <a:t>tablets</a:t>
            </a:r>
            <a:r>
              <a:rPr lang="es-MX" sz="12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 y dispositivos móviles.</a:t>
            </a:r>
            <a:endParaRPr lang="es-CL" sz="1200" dirty="0">
              <a:solidFill>
                <a:srgbClr val="475569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B975382-D1DC-A74D-2DB2-B2F933CF0EE6}"/>
              </a:ext>
            </a:extLst>
          </p:cNvPr>
          <p:cNvSpPr txBox="1"/>
          <p:nvPr/>
        </p:nvSpPr>
        <p:spPr>
          <a:xfrm>
            <a:off x="301725" y="4196242"/>
            <a:ext cx="6094476" cy="1163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Optimizar la estructura y organización del contenido, permitiendo que los usuarios accedan rápidamente a información clave sin sobrecarga visual ni procesos confusos.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Desarrollar una navegación clara e intuitiva, reduciendo el tiempo de búsqueda de contenido y facilitando el flujo natural entre secciones principales del sitio.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4812CEC-34DA-EF29-012F-B105E8B4443B}"/>
              </a:ext>
            </a:extLst>
          </p:cNvPr>
          <p:cNvSpPr txBox="1"/>
          <p:nvPr/>
        </p:nvSpPr>
        <p:spPr>
          <a:xfrm>
            <a:off x="6233160" y="3340608"/>
            <a:ext cx="5068824" cy="886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Mejorar la comunicación interna, proporcionando un espacio centralizado donde se pueda acceder a información corporativa relevante sin depender de múltiples canales o documentos dispersos.</a:t>
            </a:r>
            <a:endParaRPr lang="es-CL" sz="1200" dirty="0">
              <a:solidFill>
                <a:srgbClr val="475569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0B8F17-337D-032F-B719-BE8BA6869C02}"/>
              </a:ext>
            </a:extLst>
          </p:cNvPr>
          <p:cNvSpPr txBox="1"/>
          <p:nvPr/>
        </p:nvSpPr>
        <p:spPr>
          <a:xfrm>
            <a:off x="6233160" y="4350347"/>
            <a:ext cx="5137404" cy="886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Integrar un sistema de administración simple y mantenible, que permita a PepsiCo actualizar información sin necesidad de conocimientos avanzados de programación.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2FD4339-CE51-9B8B-38E5-7DCF68456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3454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190500" y="26574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Cronograma del Proyecto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381000" y="4943475"/>
            <a:ext cx="11430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Cronograma de inicio, indicando el cumplimiento de las 3 fases principales del proyecto.</a:t>
            </a:r>
            <a:endParaRPr/>
          </a:p>
        </p:txBody>
      </p:sp>
      <p:graphicFrame>
        <p:nvGraphicFramePr>
          <p:cNvPr id="204" name="Google Shape;204;p19"/>
          <p:cNvGraphicFramePr/>
          <p:nvPr>
            <p:extLst>
              <p:ext uri="{D42A27DB-BD31-4B8C-83A1-F6EECF244321}">
                <p14:modId xmlns:p14="http://schemas.microsoft.com/office/powerpoint/2010/main" val="2028398279"/>
              </p:ext>
            </p:extLst>
          </p:nvPr>
        </p:nvGraphicFramePr>
        <p:xfrm>
          <a:off x="381000" y="3419475"/>
          <a:ext cx="11420525" cy="1428725"/>
        </p:xfrm>
        <a:graphic>
          <a:graphicData uri="http://schemas.openxmlformats.org/drawingml/2006/table">
            <a:tbl>
              <a:tblPr firstRow="1" bandRow="1">
                <a:noFill/>
                <a:tableStyleId>{B1C31A50-F97A-44F4-A4EB-3EB9F995318A}</a:tableStyleId>
              </a:tblPr>
              <a:tblGrid>
                <a:gridCol w="188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21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78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252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56660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57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Actividad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1 – Definición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2 – Desarrollo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3 – Validación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5" name="Google Shape;20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5673804-A2C9-0C91-2ADA-484F457E9F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86000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2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190500" y="11001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Tecnologías Utilizadas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3724513" y="2967037"/>
            <a:ext cx="79009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Python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3105150" y="3576637"/>
            <a:ext cx="20288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Lenguaje principal del backend.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7672387" y="2967037"/>
            <a:ext cx="800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Django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6948487" y="3576637"/>
            <a:ext cx="2247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Framework para el desarrollo web.</a:t>
            </a:r>
            <a:endParaRPr/>
          </a:p>
        </p:txBody>
      </p:sp>
      <p:sp>
        <p:nvSpPr>
          <p:cNvPr id="253" name="Google Shape;253;p22"/>
          <p:cNvSpPr txBox="1"/>
          <p:nvPr/>
        </p:nvSpPr>
        <p:spPr>
          <a:xfrm>
            <a:off x="3764518" y="5548312"/>
            <a:ext cx="71008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SQLite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3333750" y="6157912"/>
            <a:ext cx="1571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Motor de base de datos.</a:t>
            </a:r>
            <a:endParaRPr/>
          </a:p>
        </p:txBody>
      </p:sp>
      <p:sp>
        <p:nvSpPr>
          <p:cNvPr id="255" name="Google Shape;255;p22"/>
          <p:cNvSpPr txBox="1"/>
          <p:nvPr/>
        </p:nvSpPr>
        <p:spPr>
          <a:xfrm>
            <a:off x="7417355" y="5548312"/>
            <a:ext cx="131016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GitHub / Git</a:t>
            </a:r>
            <a:endParaRPr/>
          </a:p>
        </p:txBody>
      </p:sp>
      <p:sp>
        <p:nvSpPr>
          <p:cNvPr id="256" name="Google Shape;256;p22"/>
          <p:cNvSpPr txBox="1"/>
          <p:nvPr/>
        </p:nvSpPr>
        <p:spPr>
          <a:xfrm>
            <a:off x="7377112" y="6157912"/>
            <a:ext cx="13906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Control de versiones.</a:t>
            </a:r>
            <a:endParaRPr/>
          </a:p>
        </p:txBody>
      </p:sp>
      <p:pic>
        <p:nvPicPr>
          <p:cNvPr id="257" name="Google Shape;25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919537" y="227171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43837" y="227171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19537" y="4852987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848600" y="4852987"/>
            <a:ext cx="4476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0BCA3CB2-5259-0260-7AB7-2CDFFC601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190500" y="24336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Resultados Obtenidos</a:t>
            </a:r>
            <a:endParaRPr/>
          </a:p>
        </p:txBody>
      </p:sp>
      <p:pic>
        <p:nvPicPr>
          <p:cNvPr id="291" name="Google Shape;291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3385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5"/>
          <p:cNvSpPr txBox="1"/>
          <p:nvPr/>
        </p:nvSpPr>
        <p:spPr>
          <a:xfrm>
            <a:off x="2266950" y="3290887"/>
            <a:ext cx="3238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funcional y navegable.</a:t>
            </a:r>
            <a:endParaRPr/>
          </a:p>
        </p:txBody>
      </p:sp>
      <p:pic>
        <p:nvPicPr>
          <p:cNvPr id="293" name="Google Shape;29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8909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5"/>
          <p:cNvSpPr txBox="1"/>
          <p:nvPr/>
        </p:nvSpPr>
        <p:spPr>
          <a:xfrm>
            <a:off x="2266950" y="3843337"/>
            <a:ext cx="37433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moderno y orientado al usuario.</a:t>
            </a:r>
            <a:endParaRPr/>
          </a:p>
        </p:txBody>
      </p:sp>
      <p:pic>
        <p:nvPicPr>
          <p:cNvPr id="295" name="Google Shape;29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4434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5"/>
          <p:cNvSpPr txBox="1"/>
          <p:nvPr/>
        </p:nvSpPr>
        <p:spPr>
          <a:xfrm>
            <a:off x="2266950" y="4395787"/>
            <a:ext cx="39243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 clara, adaptable y mantenible.</a:t>
            </a:r>
            <a:endParaRPr/>
          </a:p>
        </p:txBody>
      </p:sp>
      <p:pic>
        <p:nvPicPr>
          <p:cNvPr id="297" name="Google Shape;29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9958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 txBox="1"/>
          <p:nvPr/>
        </p:nvSpPr>
        <p:spPr>
          <a:xfrm>
            <a:off x="2266950" y="4948237"/>
            <a:ext cx="4762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Cumplimiento de los requerimientos del proyecto.</a:t>
            </a:r>
            <a:endParaRPr/>
          </a:p>
        </p:txBody>
      </p:sp>
      <p:pic>
        <p:nvPicPr>
          <p:cNvPr id="299" name="Google Shape;299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16D8C81-F7A5-917D-47B9-1FAAA5AE3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190500" y="3214687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PREGUNTAS DE LA COMISIÓN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81000" y="4052887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Muchas gracias.</a:t>
            </a:r>
            <a:endParaRPr/>
          </a:p>
        </p:txBody>
      </p:sp>
      <p:pic>
        <p:nvPicPr>
          <p:cNvPr id="322" name="Google Shape;32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1CA1356C-3B01-8207-579D-63029FF87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304771"/>
            <a:ext cx="2087880" cy="5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513</Words>
  <Application>Microsoft Office PowerPoint</Application>
  <PresentationFormat>Panorámica</PresentationFormat>
  <Paragraphs>72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Lato</vt:lpstr>
      <vt:lpstr>Poppins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NICOLAS . LEON OVANDO</cp:lastModifiedBy>
  <cp:revision>7</cp:revision>
  <dcterms:modified xsi:type="dcterms:W3CDTF">2025-11-26T02:08:37Z</dcterms:modified>
</cp:coreProperties>
</file>