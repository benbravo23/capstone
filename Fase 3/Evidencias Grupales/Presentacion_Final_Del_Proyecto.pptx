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Poppins"/>
      <p:regular r:id="rId22"/>
      <p:bold r:id="rId23"/>
      <p:italic r:id="rId24"/>
      <p:boldItalic r:id="rId25"/>
    </p:embeddedFont>
    <p:embeddedFont>
      <p:font typeface="La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1C31A50-F97A-44F4-A4EB-3EB9F995318A}">
  <a:tblStyle styleId="{B1C31A50-F97A-44F4-A4EB-3EB9F995318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Poppins-regular.fntdata"/><Relationship Id="rId21" Type="http://schemas.openxmlformats.org/officeDocument/2006/relationships/slide" Target="slides/slide15.xml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regular.fntdata"/><Relationship Id="rId25" Type="http://schemas.openxmlformats.org/officeDocument/2006/relationships/font" Target="fonts/Poppins-boldItalic.fntdata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9.png"/><Relationship Id="rId6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17.png"/><Relationship Id="rId6" Type="http://schemas.openxmlformats.org/officeDocument/2006/relationships/image" Target="../media/image22.png"/><Relationship Id="rId7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9.png"/><Relationship Id="rId5" Type="http://schemas.openxmlformats.org/officeDocument/2006/relationships/image" Target="../media/image30.png"/><Relationship Id="rId6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11" Type="http://schemas.openxmlformats.org/officeDocument/2006/relationships/image" Target="../media/image14.png"/><Relationship Id="rId10" Type="http://schemas.openxmlformats.org/officeDocument/2006/relationships/image" Target="../media/image21.png"/><Relationship Id="rId9" Type="http://schemas.openxmlformats.org/officeDocument/2006/relationships/image" Target="../media/image32.png"/><Relationship Id="rId5" Type="http://schemas.openxmlformats.org/officeDocument/2006/relationships/image" Target="../media/image15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9.png"/><Relationship Id="rId5" Type="http://schemas.openxmlformats.org/officeDocument/2006/relationships/image" Target="../media/image18.png"/><Relationship Id="rId6" Type="http://schemas.openxmlformats.org/officeDocument/2006/relationships/image" Target="../media/image14.png"/><Relationship Id="rId7" Type="http://schemas.openxmlformats.org/officeDocument/2006/relationships/image" Target="../media/image3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26.png"/><Relationship Id="rId5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29.png"/><Relationship Id="rId5" Type="http://schemas.openxmlformats.org/officeDocument/2006/relationships/image" Target="../media/image24.png"/><Relationship Id="rId6" Type="http://schemas.openxmlformats.org/officeDocument/2006/relationships/image" Target="../media/image28.png"/><Relationship Id="rId7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8505825" y="523875"/>
            <a:ext cx="33051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PROYECTO "PÁGINA WEB PEPSICO"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190500" y="3071812"/>
            <a:ext cx="11811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PRESENTACIÓN FINAL CAPSTONE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81000" y="4195762"/>
            <a:ext cx="11430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Página Web Corporativa PepsiCo</a:t>
            </a:r>
            <a:endParaRPr/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100" y="49850"/>
            <a:ext cx="1873050" cy="150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0" y="3390900"/>
            <a:ext cx="3571875" cy="2009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3390900"/>
            <a:ext cx="3571875" cy="2009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381000"/>
            <a:ext cx="85725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8505825" y="523875"/>
            <a:ext cx="33051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PROYECTO "PÁGINA WEB PEPSICO"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90500" y="2533650"/>
            <a:ext cx="1181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INTEGRANTES DEL PROYECTO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3221831" y="4495800"/>
            <a:ext cx="170021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Nicolás León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029926" y="4495800"/>
            <a:ext cx="218027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Benjamín Bravo</a:t>
            </a:r>
            <a:endParaRPr/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71912" y="3800475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20037" y="3800475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0500" y="162800"/>
            <a:ext cx="1873050" cy="150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2662237"/>
            <a:ext cx="5476875" cy="337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662237"/>
            <a:ext cx="5476875" cy="337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381000"/>
            <a:ext cx="85725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8505825" y="523875"/>
            <a:ext cx="33051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PROYECTO "PÁGINA WEB PEPSICO"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190500" y="1900237"/>
            <a:ext cx="1181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Descripción del Proyecto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771525" y="3090862"/>
            <a:ext cx="493061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2A900"/>
                </a:solidFill>
                <a:latin typeface="Poppins"/>
                <a:ea typeface="Poppins"/>
                <a:cs typeface="Poppins"/>
                <a:sym typeface="Poppins"/>
              </a:rPr>
              <a:t>Problema o Dolor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771525" y="3681412"/>
            <a:ext cx="46958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PepsiCo no cuenta con una plataforma clara, actualizada y centralizada para comunicar información interna.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724650" y="3090862"/>
            <a:ext cx="493061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2A900"/>
                </a:solidFill>
                <a:latin typeface="Poppins"/>
                <a:ea typeface="Poppins"/>
                <a:cs typeface="Poppins"/>
                <a:sym typeface="Poppins"/>
              </a:rPr>
              <a:t>Propuesta de Solución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724650" y="3681412"/>
            <a:ext cx="46958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Desarrollo de una página web corporativa moderna, responsiva y fácil de usar para centralizar la información.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914400" y="444341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1009650" y="4443412"/>
            <a:ext cx="44577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Dificultad para acceder a información relevante.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914400" y="484346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1009650" y="4843462"/>
            <a:ext cx="44577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Poca claridad en procesos y documentos.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914400" y="524351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1009650" y="5243512"/>
            <a:ext cx="44577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Pérdida de tiempo en canales dispersos.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867525" y="444341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962775" y="4443412"/>
            <a:ext cx="44577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Mejorar la comunicación interna.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867525" y="484346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6962775" y="4843462"/>
            <a:ext cx="44577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Organizar documentos y contenido.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867525" y="524351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962775" y="5243512"/>
            <a:ext cx="44577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Entregar acceso rápido a cada área.</a:t>
            </a:r>
            <a:endParaRPr/>
          </a:p>
        </p:txBody>
      </p:sp>
      <p:pic>
        <p:nvPicPr>
          <p:cNvPr id="127" name="Google Shape;127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2100" y="49850"/>
            <a:ext cx="1873050" cy="150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2867025"/>
            <a:ext cx="5476875" cy="2962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867025"/>
            <a:ext cx="5476875" cy="2962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381000"/>
            <a:ext cx="85725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8505825" y="523875"/>
            <a:ext cx="33051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PROYECTO "PÁGINA WEB PEPSICO"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190500" y="2105025"/>
            <a:ext cx="1181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Objetivos del Proyecto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771525" y="3295650"/>
            <a:ext cx="493061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2A900"/>
                </a:solidFill>
                <a:latin typeface="Poppins"/>
                <a:ea typeface="Poppins"/>
                <a:cs typeface="Poppins"/>
                <a:sym typeface="Poppins"/>
              </a:rPr>
              <a:t>Objetivo General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771525" y="3886200"/>
            <a:ext cx="46958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Diseñar y desarrollar una página web funcional para PepsiCo que mejore la comunicación y organización del contenido corporativo.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6724650" y="3295650"/>
            <a:ext cx="493061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2A900"/>
                </a:solidFill>
                <a:latin typeface="Poppins"/>
                <a:ea typeface="Poppins"/>
                <a:cs typeface="Poppins"/>
                <a:sym typeface="Poppins"/>
              </a:rPr>
              <a:t>Objetivos Específicos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6867525" y="383857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6962775" y="3838575"/>
            <a:ext cx="44577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Implementar un diseño moderno y responsivo.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6867525" y="42386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6962775" y="4238625"/>
            <a:ext cx="44577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Crear una navegación intuitiva y clara.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6867525" y="463867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6962775" y="4638675"/>
            <a:ext cx="44577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Estructurar el contenido de manera ordenada.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6867525" y="50387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6962775" y="5038725"/>
            <a:ext cx="44577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Facilitar el mantenimiento futuro del sitio.</a:t>
            </a:r>
            <a:endParaRPr/>
          </a:p>
        </p:txBody>
      </p:sp>
      <p:pic>
        <p:nvPicPr>
          <p:cNvPr id="148" name="Google Shape;148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2100" y="49850"/>
            <a:ext cx="1873050" cy="150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2867025"/>
            <a:ext cx="5476875" cy="2962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867025"/>
            <a:ext cx="5476875" cy="2962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381000"/>
            <a:ext cx="85725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8505825" y="523875"/>
            <a:ext cx="33051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PROYECTO "PÁGINA WEB PEPSICO"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190500" y="2105025"/>
            <a:ext cx="1181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Alcances y Limitaciones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771525" y="3295650"/>
            <a:ext cx="493061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2C55E"/>
                </a:solidFill>
                <a:latin typeface="Poppins"/>
                <a:ea typeface="Poppins"/>
                <a:cs typeface="Poppins"/>
                <a:sym typeface="Poppins"/>
              </a:rPr>
              <a:t>Alcances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6724650" y="3295650"/>
            <a:ext cx="493061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rPr>
              <a:t>Limitaciones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914400" y="383857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1009650" y="3838575"/>
            <a:ext cx="44577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Diseño y creación de la estructura web.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914400" y="42386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1009650" y="4238625"/>
            <a:ext cx="44577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Secciones principales: inicio, áreas, documentos, etc.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914400" y="463867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1009650" y="4638675"/>
            <a:ext cx="44577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Navegación funcional y responsive.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914400" y="50387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1009650" y="5038725"/>
            <a:ext cx="44577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Backend para lógica de negocio (Python/Django).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6867525" y="383857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6962775" y="3838575"/>
            <a:ext cx="44577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No se desarrollan integraciones con sistemas internos existentes de PepsiCo.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6867525" y="449580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6962775" y="4495800"/>
            <a:ext cx="4457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No </a:t>
            </a:r>
            <a:r>
              <a:rPr lang="en-US" sz="13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contamos con un presupuesto claro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6867525" y="489585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6962775" y="4895850"/>
            <a:ext cx="44577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Autenticación de usuarios fuera del alcance.</a:t>
            </a:r>
            <a:endParaRPr/>
          </a:p>
        </p:txBody>
      </p:sp>
      <p:pic>
        <p:nvPicPr>
          <p:cNvPr id="174" name="Google Shape;174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2100" y="49850"/>
            <a:ext cx="1873050" cy="150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9" name="Google Shape;17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00" y="4143375"/>
            <a:ext cx="3086100" cy="1266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52950" y="3571875"/>
            <a:ext cx="3086100" cy="1266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53400" y="4143375"/>
            <a:ext cx="3086100" cy="1266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381000"/>
            <a:ext cx="85725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8"/>
          <p:cNvSpPr txBox="1"/>
          <p:nvPr/>
        </p:nvSpPr>
        <p:spPr>
          <a:xfrm>
            <a:off x="8505825" y="523875"/>
            <a:ext cx="33051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PROYECTO "PÁGINA WEB PEPSICO"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190500" y="2809875"/>
            <a:ext cx="1181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Metodología de Trabajo: Scrum</a:t>
            </a:r>
            <a:endParaRPr/>
          </a:p>
        </p:txBody>
      </p:sp>
      <p:sp>
        <p:nvSpPr>
          <p:cNvPr id="185" name="Google Shape;185;p18"/>
          <p:cNvSpPr/>
          <p:nvPr/>
        </p:nvSpPr>
        <p:spPr>
          <a:xfrm>
            <a:off x="952500" y="4329112"/>
            <a:ext cx="10287000" cy="38100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 txBox="1"/>
          <p:nvPr/>
        </p:nvSpPr>
        <p:spPr>
          <a:xfrm>
            <a:off x="998210" y="3886200"/>
            <a:ext cx="3040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Fase 1 – Definición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1047750" y="4705350"/>
            <a:ext cx="2895600" cy="14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Levantamiento de requerimientos.</a:t>
            </a:r>
            <a:endParaRPr sz="12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Análisis del problema y alcances del proyecto.</a:t>
            </a:r>
            <a:endParaRPr sz="12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Creación de mockups, casos de uso y arquitectura inicial.</a:t>
            </a:r>
            <a:endParaRPr sz="12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Priorización de funcionalidades (Backlog inicial).</a:t>
            </a:r>
            <a:endParaRPr sz="12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8" name="Google Shape;188;p18"/>
          <p:cNvSpPr txBox="1"/>
          <p:nvPr/>
        </p:nvSpPr>
        <p:spPr>
          <a:xfrm>
            <a:off x="4575760" y="3886188"/>
            <a:ext cx="3040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Fase 2 – Desarrollo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4600575" y="4714850"/>
            <a:ext cx="2895600" cy="16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Construcción de la estructura principal del sitio.</a:t>
            </a:r>
            <a:endParaRPr sz="12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Implementación del frontend y componentes visuales.</a:t>
            </a:r>
            <a:endParaRPr sz="12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Desarrollo del backend básico (si aplica) y preparación de datos.</a:t>
            </a:r>
            <a:endParaRPr sz="12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Iteraciones de prueba y ajustes en los sprints.</a:t>
            </a:r>
            <a:endParaRPr sz="12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8153310" y="3916313"/>
            <a:ext cx="3040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Fase 3 – Validación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8248650" y="4705350"/>
            <a:ext cx="2895600" cy="16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Pruebas de funcionamiento y corrección de errores.</a:t>
            </a:r>
            <a:endParaRPr sz="12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Validación de navegación, diseño y contenidos.</a:t>
            </a:r>
            <a:endParaRPr sz="12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Ajustes finales según retroalimentación.</a:t>
            </a:r>
            <a:endParaRPr sz="12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Preparación y entrega de la presentación final del proyecto.</a:t>
            </a:r>
            <a:endParaRPr sz="12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2400300" y="439578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F2A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6000750" y="439578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F2A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9601200" y="439578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F2A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2100" y="49850"/>
            <a:ext cx="1873050" cy="150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381000"/>
            <a:ext cx="85725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 txBox="1"/>
          <p:nvPr/>
        </p:nvSpPr>
        <p:spPr>
          <a:xfrm>
            <a:off x="8505825" y="523875"/>
            <a:ext cx="33051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PROYECTO "PÁGINA WEB PEPSICO"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190500" y="2657475"/>
            <a:ext cx="1181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Cronograma del Proyecto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381000" y="4943475"/>
            <a:ext cx="11430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Cronograma de inicio, indicando el cumplimiento de las 3 fases principales del proyecto.</a:t>
            </a:r>
            <a:endParaRPr/>
          </a:p>
        </p:txBody>
      </p:sp>
      <p:graphicFrame>
        <p:nvGraphicFramePr>
          <p:cNvPr id="204" name="Google Shape;204;p19"/>
          <p:cNvGraphicFramePr/>
          <p:nvPr/>
        </p:nvGraphicFramePr>
        <p:xfrm>
          <a:off x="381000" y="34194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{B1C31A50-F97A-44F4-A4EB-3EB9F995318A}</a:tableStyleId>
              </a:tblPr>
              <a:tblGrid>
                <a:gridCol w="1885350"/>
                <a:gridCol w="457800"/>
                <a:gridCol w="498275"/>
                <a:gridCol w="498275"/>
                <a:gridCol w="511675"/>
                <a:gridCol w="498275"/>
                <a:gridCol w="498275"/>
                <a:gridCol w="498275"/>
                <a:gridCol w="498275"/>
                <a:gridCol w="498275"/>
                <a:gridCol w="579100"/>
                <a:gridCol w="525225"/>
                <a:gridCol w="565550"/>
                <a:gridCol w="565550"/>
                <a:gridCol w="579100"/>
                <a:gridCol w="565550"/>
                <a:gridCol w="565550"/>
                <a:gridCol w="565550"/>
                <a:gridCol w="566600"/>
              </a:tblGrid>
              <a:tr h="357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33333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Actividad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33333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33333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33333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33333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33333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33333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33333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33333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33333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33333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S10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33333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S11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33333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S12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33333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S13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33333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S14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33333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S15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33333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S16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33333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S17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33333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S18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5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Fase 1 – Definición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ED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ED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ED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ED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Fase 2 – Desarrollo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Fase 3 – Validación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FF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FF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FF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FFDB"/>
                    </a:solidFill>
                  </a:tcPr>
                </a:tc>
              </a:tr>
            </a:tbl>
          </a:graphicData>
        </a:graphic>
      </p:graphicFrame>
      <p:pic>
        <p:nvPicPr>
          <p:cNvPr id="205" name="Google Shape;20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100" y="49850"/>
            <a:ext cx="1873050" cy="150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681287"/>
            <a:ext cx="5476875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381000"/>
            <a:ext cx="85725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 txBox="1"/>
          <p:nvPr/>
        </p:nvSpPr>
        <p:spPr>
          <a:xfrm>
            <a:off x="8505825" y="523875"/>
            <a:ext cx="33051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PROYECTO "PÁGINA WEB PEPSICO"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190500" y="1919287"/>
            <a:ext cx="1181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Arquitectura del Software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381000" y="2681287"/>
            <a:ext cx="575071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2A900"/>
                </a:solidFill>
                <a:latin typeface="Poppins"/>
                <a:ea typeface="Poppins"/>
                <a:cs typeface="Poppins"/>
                <a:sym typeface="Poppins"/>
              </a:rPr>
              <a:t>Arquitectura Cliente-Servidor (MTV)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381000" y="3271837"/>
            <a:ext cx="54768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 implementó una arquitectura bajo el patrón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MTV (Modelo-Temple-Vista)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Django.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523875" y="403383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619125" y="4033837"/>
            <a:ext cx="5238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Cliente (Navegador):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Renderiza los templates de HTML, CSS y JS.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523875" y="443388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619125" y="4433887"/>
            <a:ext cx="5238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Servidor (Python/Django):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Procesa la lógica de negocio, accede a la base de datos y sirve las vistas.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523875" y="509111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619125" y="5091112"/>
            <a:ext cx="5238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Base de Datos (SQLite):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Almacena toda la información de la aplicación.</a:t>
            </a:r>
            <a:endParaRPr/>
          </a:p>
        </p:txBody>
      </p:sp>
      <p:pic>
        <p:nvPicPr>
          <p:cNvPr descr="image.png" id="222" name="Google Shape;22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690812"/>
            <a:ext cx="5457825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34125" y="2690800"/>
            <a:ext cx="5476875" cy="3333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2100" y="49850"/>
            <a:ext cx="1873050" cy="150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381000"/>
            <a:ext cx="85725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1"/>
          <p:cNvSpPr txBox="1"/>
          <p:nvPr/>
        </p:nvSpPr>
        <p:spPr>
          <a:xfrm>
            <a:off x="8505825" y="523875"/>
            <a:ext cx="33051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PROYECTO "PÁGINA WEB PEPSICO"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190500" y="2157412"/>
            <a:ext cx="1181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Modelo de Datos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381000" y="2919412"/>
            <a:ext cx="575071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2A900"/>
                </a:solidFill>
                <a:latin typeface="Poppins"/>
                <a:ea typeface="Poppins"/>
                <a:cs typeface="Poppins"/>
                <a:sym typeface="Poppins"/>
              </a:rPr>
              <a:t>Base de Datos: SQLite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381000" y="3509962"/>
            <a:ext cx="54768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 utilizó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SQLite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como motor de base de datos, ideal para desarrollo y prototipado rápido.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381000" y="4271962"/>
            <a:ext cx="54768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 modelo de datos se gestionó a través del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ORM de Django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permitiendo definir las entidades del negocio (como Áreas, Documentos y Usuarios) directamente en código Python.</a:t>
            </a:r>
            <a:endParaRPr/>
          </a:p>
        </p:txBody>
      </p:sp>
      <p:pic>
        <p:nvPicPr>
          <p:cNvPr descr="image.png" id="235" name="Google Shape;23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919412"/>
            <a:ext cx="547687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12900" y="2919400"/>
            <a:ext cx="431933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2100" y="49850"/>
            <a:ext cx="1873050" cy="150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2" name="Google Shape;24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0" y="1957387"/>
            <a:ext cx="3667125" cy="2295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1957387"/>
            <a:ext cx="3667125" cy="2295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86000" y="4538662"/>
            <a:ext cx="3667125" cy="2295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4538662"/>
            <a:ext cx="3667125" cy="2295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1000" y="381000"/>
            <a:ext cx="85725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2"/>
          <p:cNvSpPr txBox="1"/>
          <p:nvPr/>
        </p:nvSpPr>
        <p:spPr>
          <a:xfrm>
            <a:off x="8505825" y="523875"/>
            <a:ext cx="33051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PROYECTO "PÁGINA WEB PEPSICO"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190500" y="1100137"/>
            <a:ext cx="1181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Tecnologías Utilizadas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3724513" y="2967037"/>
            <a:ext cx="79009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Python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3105150" y="3576637"/>
            <a:ext cx="20288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Lenguaje principal del backend.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7672387" y="2967037"/>
            <a:ext cx="800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Django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6948487" y="3576637"/>
            <a:ext cx="2247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Framework para el desarrollo web.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3764518" y="5548312"/>
            <a:ext cx="71008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SQLite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3333750" y="6157912"/>
            <a:ext cx="1571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Motor de base de datos.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7417355" y="5548312"/>
            <a:ext cx="131016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GitHub / Git</a:t>
            </a: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7377112" y="6157912"/>
            <a:ext cx="13906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Control de versiones.</a:t>
            </a:r>
            <a:endParaRPr/>
          </a:p>
        </p:txBody>
      </p:sp>
      <p:pic>
        <p:nvPicPr>
          <p:cNvPr descr="image.png" id="257" name="Google Shape;257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19537" y="2271712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43837" y="227171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919537" y="4852987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848600" y="4852987"/>
            <a:ext cx="44767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52100" y="49850"/>
            <a:ext cx="1873050" cy="150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6" name="Google Shape;26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381000"/>
            <a:ext cx="85725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3"/>
          <p:cNvSpPr txBox="1"/>
          <p:nvPr/>
        </p:nvSpPr>
        <p:spPr>
          <a:xfrm>
            <a:off x="8505825" y="523875"/>
            <a:ext cx="33051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PROYECTO "PÁGINA WEB PEPSICO"</a:t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190500" y="3224212"/>
            <a:ext cx="118110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DEMOSTRACIÓN DEL RESULTADO DEL PROYECTO</a:t>
            </a:r>
            <a:endParaRPr/>
          </a:p>
        </p:txBody>
      </p:sp>
      <p:pic>
        <p:nvPicPr>
          <p:cNvPr id="269" name="Google Shape;26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100" y="49850"/>
            <a:ext cx="1873050" cy="150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4" name="Google Shape;27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919412"/>
            <a:ext cx="547687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381000"/>
            <a:ext cx="85725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4"/>
          <p:cNvSpPr txBox="1"/>
          <p:nvPr/>
        </p:nvSpPr>
        <p:spPr>
          <a:xfrm>
            <a:off x="8505825" y="523875"/>
            <a:ext cx="33051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PROYECTO "PÁGINA WEB PEPSICO"</a:t>
            </a:r>
            <a:endParaRPr/>
          </a:p>
        </p:txBody>
      </p:sp>
      <p:sp>
        <p:nvSpPr>
          <p:cNvPr id="277" name="Google Shape;277;p24"/>
          <p:cNvSpPr txBox="1"/>
          <p:nvPr/>
        </p:nvSpPr>
        <p:spPr>
          <a:xfrm>
            <a:off x="190500" y="2157412"/>
            <a:ext cx="1181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Vista Previa del Sitio</a:t>
            </a:r>
            <a:endParaRPr/>
          </a:p>
        </p:txBody>
      </p:sp>
      <p:sp>
        <p:nvSpPr>
          <p:cNvPr id="278" name="Google Shape;278;p24"/>
          <p:cNvSpPr txBox="1"/>
          <p:nvPr/>
        </p:nvSpPr>
        <p:spPr>
          <a:xfrm>
            <a:off x="381000" y="2919412"/>
            <a:ext cx="575071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2A900"/>
                </a:solidFill>
                <a:latin typeface="Poppins"/>
                <a:ea typeface="Poppins"/>
                <a:cs typeface="Poppins"/>
                <a:sym typeface="Poppins"/>
              </a:rPr>
              <a:t>Interfaz de Usuario</a:t>
            </a:r>
            <a:endParaRPr/>
          </a:p>
        </p:txBody>
      </p:sp>
      <p:sp>
        <p:nvSpPr>
          <p:cNvPr id="279" name="Google Shape;279;p24"/>
          <p:cNvSpPr txBox="1"/>
          <p:nvPr/>
        </p:nvSpPr>
        <p:spPr>
          <a:xfrm>
            <a:off x="381000" y="3509962"/>
            <a:ext cx="54768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 diseño se centró en una estética limpia, corporativa y una navegación intuitiva, siguiendo los lineamientos de una plataforma interna moderna.</a:t>
            </a:r>
            <a:endParaRPr/>
          </a:p>
        </p:txBody>
      </p:sp>
      <p:sp>
        <p:nvSpPr>
          <p:cNvPr id="280" name="Google Shape;280;p24"/>
          <p:cNvSpPr txBox="1"/>
          <p:nvPr/>
        </p:nvSpPr>
        <p:spPr>
          <a:xfrm>
            <a:off x="381000" y="4557712"/>
            <a:ext cx="54768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 buscó una apariencia familiar para los empleados, pero actualizada a los estándares web actuales, asegurando la responsividad en dispositivos móviles.</a:t>
            </a:r>
            <a:endParaRPr/>
          </a:p>
        </p:txBody>
      </p:sp>
      <p:pic>
        <p:nvPicPr>
          <p:cNvPr descr="image.png" id="281" name="Google Shape;28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928937"/>
            <a:ext cx="5457825" cy="283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2100" y="49850"/>
            <a:ext cx="1873050" cy="15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43650" y="2919400"/>
            <a:ext cx="5476876" cy="29996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8" name="Google Shape;28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381000"/>
            <a:ext cx="85725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5"/>
          <p:cNvSpPr txBox="1"/>
          <p:nvPr/>
        </p:nvSpPr>
        <p:spPr>
          <a:xfrm>
            <a:off x="8505825" y="523875"/>
            <a:ext cx="33051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PROYECTO "PÁGINA WEB PEPSICO"</a:t>
            </a:r>
            <a:endParaRPr/>
          </a:p>
        </p:txBody>
      </p:sp>
      <p:sp>
        <p:nvSpPr>
          <p:cNvPr id="290" name="Google Shape;290;p25"/>
          <p:cNvSpPr txBox="1"/>
          <p:nvPr/>
        </p:nvSpPr>
        <p:spPr>
          <a:xfrm>
            <a:off x="190500" y="2433637"/>
            <a:ext cx="1181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Resultados Obtenidos</a:t>
            </a:r>
            <a:endParaRPr/>
          </a:p>
        </p:txBody>
      </p:sp>
      <p:pic>
        <p:nvPicPr>
          <p:cNvPr descr="image.png" id="291" name="Google Shape;29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33851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5"/>
          <p:cNvSpPr txBox="1"/>
          <p:nvPr/>
        </p:nvSpPr>
        <p:spPr>
          <a:xfrm>
            <a:off x="2266950" y="3290887"/>
            <a:ext cx="3238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Página web funcional y navegable.</a:t>
            </a:r>
            <a:endParaRPr/>
          </a:p>
        </p:txBody>
      </p:sp>
      <p:pic>
        <p:nvPicPr>
          <p:cNvPr descr="image.png" id="293" name="Google Shape;29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89096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5"/>
          <p:cNvSpPr txBox="1"/>
          <p:nvPr/>
        </p:nvSpPr>
        <p:spPr>
          <a:xfrm>
            <a:off x="2266950" y="3843337"/>
            <a:ext cx="37433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Diseño moderno y orientado al usuario.</a:t>
            </a:r>
            <a:endParaRPr/>
          </a:p>
        </p:txBody>
      </p:sp>
      <p:pic>
        <p:nvPicPr>
          <p:cNvPr descr="image.png" id="295" name="Google Shape;29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444341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5"/>
          <p:cNvSpPr txBox="1"/>
          <p:nvPr/>
        </p:nvSpPr>
        <p:spPr>
          <a:xfrm>
            <a:off x="2266950" y="4395787"/>
            <a:ext cx="3924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Estructura clara, adaptable y mantenible.</a:t>
            </a:r>
            <a:endParaRPr/>
          </a:p>
        </p:txBody>
      </p:sp>
      <p:pic>
        <p:nvPicPr>
          <p:cNvPr descr="image.png" id="297" name="Google Shape;29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499586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5"/>
          <p:cNvSpPr txBox="1"/>
          <p:nvPr/>
        </p:nvSpPr>
        <p:spPr>
          <a:xfrm>
            <a:off x="2266950" y="4948237"/>
            <a:ext cx="4762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Cumplimiento de los requerimientos del proyecto.</a:t>
            </a:r>
            <a:endParaRPr/>
          </a:p>
        </p:txBody>
      </p:sp>
      <p:pic>
        <p:nvPicPr>
          <p:cNvPr id="299" name="Google Shape;299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2100" y="49850"/>
            <a:ext cx="1873050" cy="150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4" name="Google Shape;30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381000"/>
            <a:ext cx="85725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6"/>
          <p:cNvSpPr txBox="1"/>
          <p:nvPr/>
        </p:nvSpPr>
        <p:spPr>
          <a:xfrm>
            <a:off x="8505825" y="523875"/>
            <a:ext cx="33051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PROYECTO "PÁGINA WEB PEPSICO"</a:t>
            </a:r>
            <a:endParaRPr/>
          </a:p>
        </p:txBody>
      </p:sp>
      <p:sp>
        <p:nvSpPr>
          <p:cNvPr id="306" name="Google Shape;306;p26"/>
          <p:cNvSpPr txBox="1"/>
          <p:nvPr/>
        </p:nvSpPr>
        <p:spPr>
          <a:xfrm>
            <a:off x="190500" y="2709862"/>
            <a:ext cx="1181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Obstáculos Presentados</a:t>
            </a:r>
            <a:endParaRPr/>
          </a:p>
        </p:txBody>
      </p:sp>
      <p:pic>
        <p:nvPicPr>
          <p:cNvPr descr="image.png" id="307" name="Google Shape;30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614737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6"/>
          <p:cNvSpPr txBox="1"/>
          <p:nvPr/>
        </p:nvSpPr>
        <p:spPr>
          <a:xfrm>
            <a:off x="2238375" y="3567112"/>
            <a:ext cx="35814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Limitación de tiempos entre entregas.</a:t>
            </a:r>
            <a:endParaRPr/>
          </a:p>
        </p:txBody>
      </p:sp>
      <p:pic>
        <p:nvPicPr>
          <p:cNvPr descr="image.png" id="309" name="Google Shape;309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416718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6"/>
          <p:cNvSpPr txBox="1"/>
          <p:nvPr/>
        </p:nvSpPr>
        <p:spPr>
          <a:xfrm>
            <a:off x="2266950" y="4119562"/>
            <a:ext cx="4667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Ajustes en los requerimientos durante la marcha.</a:t>
            </a:r>
            <a:endParaRPr/>
          </a:p>
        </p:txBody>
      </p:sp>
      <p:pic>
        <p:nvPicPr>
          <p:cNvPr descr="image.png" id="311" name="Google Shape;311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719637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6"/>
          <p:cNvSpPr txBox="1"/>
          <p:nvPr/>
        </p:nvSpPr>
        <p:spPr>
          <a:xfrm>
            <a:off x="2333625" y="4672012"/>
            <a:ext cx="40863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Falta de comunicación con la empresa en </a:t>
            </a:r>
            <a:r>
              <a:rPr b="1" lang="en-US" sz="16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cuestión</a:t>
            </a:r>
            <a:r>
              <a:rPr b="1" lang="en-US" sz="16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pic>
        <p:nvPicPr>
          <p:cNvPr id="313" name="Google Shape;313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2100" y="49850"/>
            <a:ext cx="1873050" cy="150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8" name="Google Shape;31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381000"/>
            <a:ext cx="85725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7"/>
          <p:cNvSpPr txBox="1"/>
          <p:nvPr/>
        </p:nvSpPr>
        <p:spPr>
          <a:xfrm>
            <a:off x="8505825" y="523875"/>
            <a:ext cx="33051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PROYECTO "PÁGINA WEB PEPSICO"</a:t>
            </a:r>
            <a:endParaRPr/>
          </a:p>
        </p:txBody>
      </p:sp>
      <p:sp>
        <p:nvSpPr>
          <p:cNvPr id="320" name="Google Shape;320;p27"/>
          <p:cNvSpPr txBox="1"/>
          <p:nvPr/>
        </p:nvSpPr>
        <p:spPr>
          <a:xfrm>
            <a:off x="190500" y="3214687"/>
            <a:ext cx="11811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PREGUNTAS DE LA COMISIÓN</a:t>
            </a:r>
            <a:endParaRPr/>
          </a:p>
        </p:txBody>
      </p:sp>
      <p:sp>
        <p:nvSpPr>
          <p:cNvPr id="321" name="Google Shape;321;p27"/>
          <p:cNvSpPr txBox="1"/>
          <p:nvPr/>
        </p:nvSpPr>
        <p:spPr>
          <a:xfrm>
            <a:off x="381000" y="4052887"/>
            <a:ext cx="11430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Muchas gracias.</a:t>
            </a:r>
            <a:endParaRPr/>
          </a:p>
        </p:txBody>
      </p:sp>
      <p:pic>
        <p:nvPicPr>
          <p:cNvPr id="322" name="Google Shape;32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100" y="49850"/>
            <a:ext cx="1873050" cy="150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